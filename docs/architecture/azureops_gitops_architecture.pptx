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0EA5E9"/>
                </a:solidFill>
                <a:latin typeface="Segoe UI"/>
              </a:defRPr>
            </a:pPr>
            <a:r>
              <a:t>CLOUDSECAIOPS</a:t>
            </a:r>
          </a:p>
          <a:p>
            <a:pPr>
              <a:spcAft>
                <a:spcPts val="1000"/>
              </a:spcAft>
              <a:defRPr sz="4400" b="1">
                <a:solidFill>
                  <a:srgbClr val="FFFFFF"/>
                </a:solidFill>
                <a:latin typeface="Segoe UI"/>
              </a:defRPr>
            </a:pPr>
            <a:r>
              <a:t>Enterprise GitOps Blueprint</a:t>
            </a:r>
          </a:p>
          <a:p>
            <a:pPr>
              <a:spcAft>
                <a:spcPts val="4000"/>
              </a:spcAft>
              <a:defRPr sz="1800">
                <a:solidFill>
                  <a:srgbClr val="64748B"/>
                </a:solidFill>
                <a:latin typeface="Segoe UI"/>
              </a:defRPr>
            </a:pPr>
            <a:r>
              <a:t>A Multi-Source Event-Driven Declarative Remediation Architecture for Public Clouds</a:t>
            </a:r>
          </a:p>
          <a:p>
            <a:pPr>
              <a:defRPr sz="1400">
                <a:solidFill>
                  <a:srgbClr val="22C55E"/>
                </a:solidFill>
                <a:latin typeface="Segoe UI"/>
              </a:defRPr>
            </a:pPr>
            <a:r>
              <a:t>Presented by: Jagadeesh Dharmudu | Hackathon Event Winning Blueprint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End-to-End Functional Architecture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920240" cy="4114800"/>
          </a:xfrm>
          <a:prstGeom prst="roundRect">
            <a:avLst/>
          </a:prstGeom>
          <a:solidFill>
            <a:srgbClr val="FEF4FF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000"/>
              </a:spcAft>
              <a:defRPr sz="1200" b="1">
                <a:solidFill>
                  <a:srgbClr val="64748B"/>
                </a:solidFill>
              </a:defRPr>
            </a:pPr>
            <a:r>
              <a:t>PHASE 1</a:t>
            </a:r>
          </a:p>
          <a:p>
            <a:pPr algn="ctr">
              <a:spcAft>
                <a:spcPts val="1500"/>
              </a:spcAft>
              <a:defRPr sz="1400" b="1">
                <a:solidFill>
                  <a:srgbClr val="0F172A"/>
                </a:solidFill>
              </a:defRPr>
            </a:pPr>
            <a:r>
              <a:t>DETECTION &amp; INGEST</a:t>
            </a:r>
          </a:p>
          <a:p>
            <a:pPr algn="l">
              <a:defRPr sz="1100">
                <a:solidFill>
                  <a:srgbClr val="0F172A"/>
                </a:solidFill>
              </a:defRPr>
            </a:pPr>
            <a:r>
              <a:t>Defender for Cloud</a:t>
            </a:r>
            <a:br/>
            <a:r>
              <a:t>Log Analytics KQL</a:t>
            </a:r>
            <a:br/>
            <a:r>
              <a:t>Azure Monitor Metrics</a:t>
            </a:r>
            <a:br/>
            <a:br/>
            <a:r>
              <a:t>Telemetry triggers Event Grid Webhook.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697480" y="3474720"/>
            <a:ext cx="182880" cy="274320"/>
          </a:xfrm>
          <a:prstGeom prst="righ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926080" y="1645920"/>
            <a:ext cx="1920240" cy="41148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000"/>
              </a:spcAft>
              <a:defRPr sz="1200" b="1">
                <a:solidFill>
                  <a:srgbClr val="64748B"/>
                </a:solidFill>
              </a:defRPr>
            </a:pPr>
            <a:r>
              <a:t>PHASE 2</a:t>
            </a:r>
          </a:p>
          <a:p>
            <a:pPr algn="ctr">
              <a:spcAft>
                <a:spcPts val="1500"/>
              </a:spcAft>
              <a:defRPr sz="1400" b="1">
                <a:solidFill>
                  <a:srgbClr val="0F172A"/>
                </a:solidFill>
              </a:defRPr>
            </a:pPr>
            <a:r>
              <a:t>COGNITIVE SWARM</a:t>
            </a:r>
          </a:p>
          <a:p>
            <a:pPr algn="l">
              <a:defRPr sz="1100">
                <a:solidFill>
                  <a:srgbClr val="0F172A"/>
                </a:solidFill>
              </a:defRPr>
            </a:pPr>
            <a:r>
              <a:t>Azure Function V2</a:t>
            </a:r>
            <a:br/>
            <a:r>
              <a:t>Azure OpenAI (GPT)</a:t>
            </a:r>
            <a:br/>
            <a:br/>
            <a:r>
              <a:t>Extracts incident, locates file, patches HCL and validates syntax.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92040" y="3474720"/>
            <a:ext cx="182880" cy="274320"/>
          </a:xfrm>
          <a:prstGeom prst="righ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120640" y="1645920"/>
            <a:ext cx="1920240" cy="411480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000"/>
              </a:spcAft>
              <a:defRPr sz="1200" b="1">
                <a:solidFill>
                  <a:srgbClr val="64748B"/>
                </a:solidFill>
              </a:defRPr>
            </a:pPr>
            <a:r>
              <a:t>PHASE 3</a:t>
            </a:r>
          </a:p>
          <a:p>
            <a:pPr algn="ctr">
              <a:spcAft>
                <a:spcPts val="1500"/>
              </a:spcAft>
              <a:defRPr sz="1400" b="1">
                <a:solidFill>
                  <a:srgbClr val="0F172A"/>
                </a:solidFill>
              </a:defRPr>
            </a:pPr>
            <a:r>
              <a:t>GIT CONTROL PLANE</a:t>
            </a:r>
          </a:p>
          <a:p>
            <a:pPr algn="l">
              <a:defRPr sz="1100">
                <a:solidFill>
                  <a:srgbClr val="0F172A"/>
                </a:solidFill>
              </a:defRPr>
            </a:pPr>
            <a:r>
              <a:t>Target Repository</a:t>
            </a:r>
            <a:br/>
            <a:r>
              <a:t>Security Branch</a:t>
            </a:r>
            <a:br/>
            <a:r>
              <a:t>Pull Request Gateway</a:t>
            </a:r>
            <a:br/>
            <a:br/>
            <a:r>
              <a:t>Creates a human-in-the-loop SRE gate.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086600" y="3474720"/>
            <a:ext cx="182880" cy="274320"/>
          </a:xfrm>
          <a:prstGeom prst="righ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0" y="1645920"/>
            <a:ext cx="1920240" cy="411480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000"/>
              </a:spcAft>
              <a:defRPr sz="1200" b="1">
                <a:solidFill>
                  <a:srgbClr val="64748B"/>
                </a:solidFill>
              </a:defRPr>
            </a:pPr>
            <a:r>
              <a:t>PHASE 4</a:t>
            </a:r>
          </a:p>
          <a:p>
            <a:pPr algn="ctr">
              <a:spcAft>
                <a:spcPts val="1500"/>
              </a:spcAft>
              <a:defRPr sz="1400" b="1">
                <a:solidFill>
                  <a:srgbClr val="0F172A"/>
                </a:solidFill>
              </a:defRPr>
            </a:pPr>
            <a:r>
              <a:t>VERIFY &amp; DEPLOY</a:t>
            </a:r>
          </a:p>
          <a:p>
            <a:pPr algn="l">
              <a:defRPr sz="1100">
                <a:solidFill>
                  <a:srgbClr val="0F172A"/>
                </a:solidFill>
              </a:defRPr>
            </a:pPr>
            <a:r>
              <a:t>CI/CD Pipeline</a:t>
            </a:r>
            <a:br/>
            <a:r>
              <a:t>terraform plan</a:t>
            </a:r>
            <a:br/>
            <a:r>
              <a:t>terraform apply</a:t>
            </a:r>
            <a:br/>
            <a:br/>
            <a:r>
              <a:t>Validation check triggers on PR merge approval.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281160" y="3474720"/>
            <a:ext cx="182880" cy="274320"/>
          </a:xfrm>
          <a:prstGeom prst="righ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509760" y="1645920"/>
            <a:ext cx="1920240" cy="4114800"/>
          </a:xfrm>
          <a:prstGeom prst="roundRect">
            <a:avLst/>
          </a:prstGeom>
          <a:solidFill>
            <a:srgbClr val="FEFCE8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000"/>
              </a:spcAft>
              <a:defRPr sz="1200" b="1">
                <a:solidFill>
                  <a:srgbClr val="64748B"/>
                </a:solidFill>
              </a:defRPr>
            </a:pPr>
            <a:r>
              <a:t>PHASE 5</a:t>
            </a:r>
          </a:p>
          <a:p>
            <a:pPr algn="ctr">
              <a:spcAft>
                <a:spcPts val="1500"/>
              </a:spcAft>
              <a:defRPr sz="1400" b="1">
                <a:solidFill>
                  <a:srgbClr val="0F172A"/>
                </a:solidFill>
              </a:defRPr>
            </a:pPr>
            <a:r>
              <a:t>LIVE REMEDIATION</a:t>
            </a:r>
          </a:p>
          <a:p>
            <a:pPr algn="l">
              <a:defRPr sz="1100">
                <a:solidFill>
                  <a:srgbClr val="0F172A"/>
                </a:solidFill>
              </a:defRPr>
            </a:pPr>
            <a:r>
              <a:t>Azure Resource Group</a:t>
            </a:r>
            <a:br/>
            <a:r>
              <a:t>Landing Zone Assets</a:t>
            </a:r>
            <a:br/>
            <a:br/>
            <a:r>
              <a:t>Live state synced to Git source of truth.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Deep Dive Lifecycle Mapping &amp; Specifications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463040"/>
          <a:ext cx="1036289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295"/>
                <a:gridCol w="4572000"/>
                <a:gridCol w="3657600"/>
              </a:tblGrid>
              <a:tr h="877824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Lifecycle Phase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Technical Interface &amp; Mechanics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OpenAI Cognitive Footprint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DIAGNOSING &amp; INGESTION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Event Grid standardizes polymorphic JSON structures from Defender for Cloud &amp; Monitor via the CloudEvents v1.0 standard, routing it to secure function endpoints.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Footprint #1: Cognitive Parser</a:t>
                      </a:r>
                    </a:p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Extracts variables and locates target Landing Zone files dynamically.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REMEDIATING &amp; ORCHESTRATION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Azure Function V2 checks out repo, passes the HCL file to OpenAI, commits the patched declarative code and programmatically spawns a Pull Request.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Footprint #2: Generative HCL Patching</a:t>
                      </a:r>
                    </a:p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Surgically updates compliance settings (e.g. disabling public network security ports).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VERIFYING &amp; CI/CD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Triggered dynamically on PR creation. Runs terraform plan to verify HCL syntax validity and show state blast radius before deployment.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None</a:t>
                      </a:r>
                    </a:p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(Decoupled completely from LLM generation to guarantee safety).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REPORTING &amp; AUDIT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Merges Git branch upon SRE manual approval. Generates an immutable, cryptographically signed ledger record inside the Git history.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Footprint #3: PR Copywriting</a:t>
                      </a:r>
                    </a:p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Drafts technical markdown risk analysis and validation guidance inside the SRE PR.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Hackathon Winning Pitch &amp; Core Value Props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0EA5E9"/>
                </a:solidFill>
              </a:defRPr>
            </a:pPr>
            <a:r>
              <a:t>THE METRIC THAT WINS: ZERO-MTTR</a:t>
            </a:r>
          </a:p>
          <a:p>
            <a:pPr>
              <a:spcAft>
                <a:spcPts val="500"/>
              </a:spcAft>
              <a:defRPr sz="1400" b="1">
                <a:solidFill>
                  <a:srgbClr val="0F172A"/>
                </a:solidFill>
              </a:defRPr>
            </a:pPr>
            <a:r>
              <a:t>Traditional Security Remediation: 24 to 72 Hours</a:t>
            </a:r>
          </a:p>
          <a:p>
            <a:pPr>
              <a:spcAft>
                <a:spcPts val="2000"/>
              </a:spcAft>
              <a:defRPr sz="1200">
                <a:solidFill>
                  <a:srgbClr val="64748B"/>
                </a:solidFill>
              </a:defRPr>
            </a:pPr>
            <a:r>
              <a:t>Requires ticketing system, human scheduling, manual discovery, and manual command line intervention.</a:t>
            </a:r>
          </a:p>
          <a:p>
            <a:pPr>
              <a:spcAft>
                <a:spcPts val="500"/>
              </a:spcAft>
              <a:defRPr sz="1400" b="1">
                <a:solidFill>
                  <a:srgbClr val="22C55E"/>
                </a:solidFill>
              </a:defRPr>
            </a:pPr>
            <a:r>
              <a:t>SecOps Swarm Remediation: Under 10 Minutes total</a:t>
            </a:r>
          </a:p>
          <a:p>
            <a:pPr>
              <a:spcAft>
                <a:spcPts val="2000"/>
              </a:spcAft>
              <a:defRPr sz="1200">
                <a:solidFill>
                  <a:srgbClr val="0F172A"/>
                </a:solidFill>
              </a:defRPr>
            </a:pPr>
            <a:r>
              <a:t>• Event Ingest &amp; Routing: 1 - 3 Minutes</a:t>
            </a:r>
            <a:br/>
            <a:r>
              <a:t>• AI Triage &amp; PR Generation: 20 Seconds</a:t>
            </a:r>
            <a:br/>
            <a:r>
              <a:t>• SRE Human Approval: 2 - 5 Minutes</a:t>
            </a:r>
            <a:br/>
            <a:r>
              <a:t>• CI/CD Execution: 1 - 2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0EA5E9"/>
                </a:solidFill>
              </a:defRPr>
            </a:pPr>
            <a:r>
              <a:t>CORE ARCHITECTURAL PILLARS</a:t>
            </a:r>
          </a:p>
          <a:p>
            <a:pPr>
              <a:spcAft>
                <a:spcPts val="300"/>
              </a:spcAft>
              <a:defRPr sz="1400" b="1">
                <a:solidFill>
                  <a:srgbClr val="0F172A"/>
                </a:solidFill>
              </a:defRPr>
            </a:pPr>
            <a:r>
              <a:t>1. Shift-Left &amp; Shield-Right</a:t>
            </a:r>
          </a:p>
          <a:p>
            <a:pPr>
              <a:spcAft>
                <a:spcPts val="1500"/>
              </a:spcAft>
              <a:defRPr sz="1100">
                <a:solidFill>
                  <a:srgbClr val="64748B"/>
                </a:solidFill>
              </a:defRPr>
            </a:pPr>
            <a:r>
              <a:t>We never modify live cloud environments directly. We patch the Infrastructure as Code (IaC) repository. Git remains the Single Source of Truth (SSOT).</a:t>
            </a:r>
          </a:p>
          <a:p>
            <a:pPr>
              <a:spcAft>
                <a:spcPts val="300"/>
              </a:spcAft>
              <a:defRPr sz="1400" b="1">
                <a:solidFill>
                  <a:srgbClr val="0F172A"/>
                </a:solidFill>
              </a:defRPr>
            </a:pPr>
            <a:r>
              <a:t>2. Human-in-the-Loop Safeguards</a:t>
            </a:r>
          </a:p>
          <a:p>
            <a:pPr>
              <a:spcAft>
                <a:spcPts val="1500"/>
              </a:spcAft>
              <a:defRPr sz="1100">
                <a:solidFill>
                  <a:srgbClr val="64748B"/>
                </a:solidFill>
              </a:defRPr>
            </a:pPr>
            <a:r>
              <a:t>Instead of direct automation, we open a Pull Request. SREs verify the change in standard workflows before it is merged and deployed.</a:t>
            </a:r>
          </a:p>
          <a:p>
            <a:pPr>
              <a:spcAft>
                <a:spcPts val="300"/>
              </a:spcAft>
              <a:defRPr sz="1400" b="1">
                <a:solidFill>
                  <a:srgbClr val="0F172A"/>
                </a:solidFill>
              </a:defRPr>
            </a:pPr>
            <a:r>
              <a:t>3. Dynamic Landing Zone Targeting</a:t>
            </a:r>
          </a:p>
          <a:p>
            <a:pPr>
              <a:spcAft>
                <a:spcPts val="1500"/>
              </a:spcAft>
              <a:defRPr sz="1100">
                <a:solidFill>
                  <a:srgbClr val="64748B"/>
                </a:solidFill>
              </a:defRPr>
            </a:pPr>
            <a:r>
              <a:t>AI scans the repository directory tree dynamically to map alerts to Storage, Network, Compute, or Database files, covering all Azure landing zone structures.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Cost Analysis &amp; Total Cost of Ownership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0EA5E9"/>
                </a:solidFill>
              </a:defRPr>
            </a:pPr>
            <a:r>
              <a:t>ONE-TIME SETUP COSTS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Azure Logical Resource Groups: </a:t>
            </a:r>
            <a:r>
              <a:rPr b="1">
                <a:solidFill>
                  <a:srgbClr val="22C55E"/>
                </a:solidFill>
              </a:rPr>
              <a:t>$0.00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GitHub / Azure DevOps Repositories: </a:t>
            </a:r>
            <a:r>
              <a:rPr b="1">
                <a:solidFill>
                  <a:srgbClr val="22C55E"/>
                </a:solidFill>
              </a:rPr>
              <a:t>$0.00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Telemetry Routing (Monitor/Defender): </a:t>
            </a:r>
            <a:r>
              <a:rPr b="1">
                <a:solidFill>
                  <a:srgbClr val="22C55E"/>
                </a:solidFill>
              </a:rPr>
              <a:t>$0.00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Initial Python App Setup &amp; Deploy: </a:t>
            </a:r>
            <a:r>
              <a:rPr b="1">
                <a:solidFill>
                  <a:srgbClr val="22C55E"/>
                </a:solidFill>
              </a:rPr>
              <a:t>$0.00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TOTAL ONE-TIME EXPENSES: </a:t>
            </a:r>
            <a:r>
              <a:rPr b="1">
                <a:solidFill>
                  <a:srgbClr val="22C55E"/>
                </a:solidFill>
              </a:rPr>
              <a:t>$0.00 (Zero-Cost Setup)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0EA5E9"/>
                </a:solidFill>
              </a:defRPr>
            </a:pPr>
            <a:r>
              <a:t>MONTHLY RECURRING COSTS (1k Events)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Azure Event Grid (Telemetry Router): </a:t>
            </a:r>
            <a:r>
              <a:rPr b="1">
                <a:solidFill>
                  <a:srgbClr val="0EA5E9"/>
                </a:solidFill>
              </a:rPr>
              <a:t>$0.00 (Under 100k events/mo free)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Azure Functions (Serverless Compute): </a:t>
            </a:r>
            <a:r>
              <a:rPr b="1">
                <a:solidFill>
                  <a:srgbClr val="0F172A"/>
                </a:solidFill>
              </a:rPr>
              <a:t>~$0.80 (Pay-as-you-go executions)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Azure Storage (Logs &amp; Meta): </a:t>
            </a:r>
            <a:r>
              <a:rPr b="1">
                <a:solidFill>
                  <a:srgbClr val="0F172A"/>
                </a:solidFill>
              </a:rPr>
              <a:t>~$0.50 (Hot LRS standard storage)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Azure OpenAI Service (GPT-4o API): </a:t>
            </a:r>
            <a:r>
              <a:rPr b="1">
                <a:solidFill>
                  <a:srgbClr val="0F172A"/>
                </a:solidFill>
              </a:rPr>
              <a:t>~$39.00 (Estimated token utilization)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TOTAL ESTIMATED MONTHLY OVERHEAD: </a:t>
            </a:r>
            <a:r>
              <a:rPr b="1">
                <a:solidFill>
                  <a:srgbClr val="0EA5E9"/>
                </a:solidFill>
              </a:rPr>
              <a:t>~$40.30 / 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5303520"/>
            <a:ext cx="10362895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FFFFF"/>
                </a:solidFill>
                <a:latin typeface="Segoe UI"/>
              </a:defRPr>
            </a:pPr>
            <a:r>
              <a:t>TCO COMPARISON: Auto-remediation costs ~$0.04 per incident vs. ~$150 - $300 in engineering labor per manual remediation ticket. (A 99.98% operational cost reduction).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